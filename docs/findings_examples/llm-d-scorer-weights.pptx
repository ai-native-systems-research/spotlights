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800" b="1" i="0">
                <a:solidFill>
                  <a:srgbClr val="1A1A2A"/>
                </a:solidFill>
                <a:latin typeface="Calibri"/>
              </a:rPr>
              <a:t>Candidate: </a:t>
            </a:r>
            <a:r>
              <a:rPr sz="1800" b="1" i="0">
                <a:solidFill>
                  <a:srgbClr val="1A1A2A"/>
                </a:solidFill>
                <a:latin typeface="Consolas"/>
              </a:rPr>
              <a:t>loader.loadDefaultConfig.defaultScorerWeights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1A1A2A"/>
                </a:solidFill>
                <a:latin typeface="Calibri"/>
              </a:rPr>
              <a:t>Finding: Bias default scorer weights toward prefix-cache affinity for multi-turn agentic traffic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4592"/>
            <a:ext cx="81381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084592"/>
            <a:ext cx="2700000" cy="36389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2920" y="1244592"/>
            <a:ext cx="2340000" cy="23801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File</a:t>
            </a:r>
          </a:p>
          <a:p>
            <a:pPr>
              <a:spcAft>
                <a:spcPts val="200"/>
              </a:spcAft>
            </a:pPr>
            <a:r>
              <a:rPr sz="1100" b="0" i="0" dirty="0">
                <a:solidFill>
                  <a:srgbClr val="475569"/>
                </a:solidFill>
                <a:latin typeface="Consolas"/>
              </a:rPr>
              <a:t>pkg/</a:t>
            </a:r>
            <a:r>
              <a:rPr sz="1100" b="0" i="0" dirty="0" err="1">
                <a:solidFill>
                  <a:srgbClr val="475569"/>
                </a:solidFill>
                <a:latin typeface="Consolas"/>
              </a:rPr>
              <a:t>epp</a:t>
            </a:r>
            <a:r>
              <a:rPr sz="1100" b="0" i="0" dirty="0">
                <a:solidFill>
                  <a:srgbClr val="475569"/>
                </a:solidFill>
                <a:latin typeface="Consolas"/>
              </a:rPr>
              <a:t>/config/loader/</a:t>
            </a:r>
          </a:p>
          <a:p>
            <a:pPr>
              <a:spcAft>
                <a:spcPts val="200"/>
              </a:spcAft>
            </a:pPr>
            <a:r>
              <a:rPr sz="1100" b="0" i="0" dirty="0" err="1">
                <a:solidFill>
                  <a:srgbClr val="475569"/>
                </a:solidFill>
                <a:latin typeface="Consolas"/>
              </a:rPr>
              <a:t>defaults.go</a:t>
            </a:r>
            <a:endParaRPr sz="1100" b="0" i="0" dirty="0">
              <a:solidFill>
                <a:srgbClr val="475569"/>
              </a:solidFill>
              <a:latin typeface="Consolas"/>
            </a:endParaRPr>
          </a:p>
          <a:p>
            <a:pPr>
              <a:spcAft>
                <a:spcPts val="1000"/>
              </a:spcAft>
            </a:pPr>
            <a:r>
              <a:rPr sz="1000" b="0" i="1" dirty="0">
                <a:solidFill>
                  <a:srgbClr val="94A3B8"/>
                </a:solidFill>
                <a:latin typeface="Calibri"/>
              </a:rPr>
              <a:t>lines 47–49</a:t>
            </a:r>
          </a:p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Symbol</a:t>
            </a:r>
          </a:p>
          <a:p>
            <a:pPr>
              <a:spcAft>
                <a:spcPts val="200"/>
              </a:spcAft>
            </a:pPr>
            <a:r>
              <a:rPr sz="1100" b="0" i="0" dirty="0" err="1">
                <a:solidFill>
                  <a:srgbClr val="475569"/>
                </a:solidFill>
                <a:latin typeface="Consolas"/>
              </a:rPr>
              <a:t>loader.loadDefaultConfig</a:t>
            </a:r>
            <a:r>
              <a:rPr sz="1100" b="0" i="0" dirty="0">
                <a:solidFill>
                  <a:srgbClr val="475569"/>
                </a:solidFill>
                <a:latin typeface="Consolas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100" b="0" i="0" dirty="0" err="1">
                <a:solidFill>
                  <a:srgbClr val="475569"/>
                </a:solidFill>
                <a:latin typeface="Consolas"/>
              </a:rPr>
              <a:t>defaultScorerWeights</a:t>
            </a:r>
            <a:endParaRPr sz="1100" b="0" i="0" dirty="0">
              <a:solidFill>
                <a:srgbClr val="475569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Kind</a:t>
            </a:r>
          </a:p>
          <a:p>
            <a:pPr>
              <a:spcAft>
                <a:spcPts val="1000"/>
              </a:spcAft>
            </a:pPr>
            <a:r>
              <a:rPr sz="1200" b="0" i="0" dirty="0" err="1">
                <a:solidFill>
                  <a:srgbClr val="475569"/>
                </a:solidFill>
                <a:latin typeface="Calibri"/>
              </a:rPr>
              <a:t>config_block</a:t>
            </a:r>
            <a:endParaRPr sz="1200" b="0" i="0" dirty="0">
              <a:solidFill>
                <a:srgbClr val="475569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000" b="1" i="0" dirty="0">
                <a:solidFill>
                  <a:srgbClr val="94A3B8"/>
                </a:solidFill>
                <a:latin typeface="Calibri"/>
              </a:rPr>
              <a:t>Estimated impact</a:t>
            </a:r>
          </a:p>
          <a:p>
            <a:r>
              <a:rPr sz="1200" b="1" i="0" dirty="0">
                <a:solidFill>
                  <a:srgbClr val="0F7173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2920" y="1084592"/>
            <a:ext cx="5601810" cy="21877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200" b="1" i="1" dirty="0">
                <a:solidFill>
                  <a:srgbClr val="00B050"/>
                </a:solidFill>
              </a:rPr>
              <a:t>Paper found </a:t>
            </a:r>
            <a:r>
              <a:rPr lang="en-US" sz="1200" i="1" dirty="0">
                <a:solidFill>
                  <a:srgbClr val="94A3B8"/>
                </a:solidFill>
              </a:rPr>
              <a:t>- </a:t>
            </a:r>
            <a:r>
              <a:rPr sz="1200" b="0" i="1" dirty="0" err="1">
                <a:solidFill>
                  <a:srgbClr val="94A3B8"/>
                </a:solidFill>
                <a:latin typeface="Calibri"/>
              </a:rPr>
              <a:t>KVFlow</a:t>
            </a:r>
            <a:r>
              <a:rPr sz="1200" b="0" i="1" dirty="0">
                <a:solidFill>
                  <a:srgbClr val="94A3B8"/>
                </a:solidFill>
                <a:latin typeface="Calibri"/>
              </a:rPr>
              <a:t>: Efficient Prefix Caching for Accelerating LLM-Based Multi-Agent Workflows</a:t>
            </a:r>
          </a:p>
          <a:p>
            <a:pPr>
              <a:spcAft>
                <a:spcPts val="5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Change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— Raise the prefix-cache scorer's default weight (from 3.0/2.0/2.0 toward ~4.0–5.0) by editing three literals in </a:t>
            </a:r>
            <a:r>
              <a:rPr sz="1100" b="0" i="0" dirty="0">
                <a:solidFill>
                  <a:srgbClr val="475569"/>
                </a:solidFill>
                <a:latin typeface="Consolas"/>
              </a:rPr>
              <a:t>defaults.go:47-49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. Pure value mutation; wiring and aggregation stay intact.</a:t>
            </a:r>
          </a:p>
          <a:p>
            <a:pPr>
              <a:spcAft>
                <a:spcPts val="5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Why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— In multi-turn agentic workloads, prefix KV state gets reused, so favoring the endpoint already holding it cuts cache-miss TTFT.</a:t>
            </a:r>
          </a:p>
          <a:p>
            <a:pPr>
              <a:spcAft>
                <a:spcPts val="5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Basis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— Borrows </a:t>
            </a:r>
            <a:r>
              <a:rPr sz="1100" b="0" i="0" dirty="0" err="1">
                <a:solidFill>
                  <a:srgbClr val="475569"/>
                </a:solidFill>
                <a:latin typeface="Calibri"/>
              </a:rPr>
              <a:t>KVFlow's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insight (prefix reuse dominates in agentic graphs) and applies it at routing rather than the KV node.</a:t>
            </a:r>
          </a:p>
          <a:p>
            <a:pPr>
              <a:spcAft>
                <a:spcPts val="500"/>
              </a:spcAft>
            </a:pPr>
            <a:r>
              <a:rPr sz="1100" b="1" i="0" dirty="0">
                <a:solidFill>
                  <a:srgbClr val="0F7173"/>
                </a:solidFill>
                <a:latin typeface="Calibri"/>
              </a:rPr>
              <a:t>•  </a:t>
            </a:r>
            <a:r>
              <a:rPr sz="1100" b="1" i="0" dirty="0">
                <a:solidFill>
                  <a:srgbClr val="1A1A2A"/>
                </a:solidFill>
                <a:latin typeface="Calibri"/>
              </a:rPr>
              <a:t>Fit</a:t>
            </a:r>
            <a:r>
              <a:rPr sz="1100" b="0" i="0" dirty="0">
                <a:solidFill>
                  <a:srgbClr val="475569"/>
                </a:solidFill>
                <a:latin typeface="Calibri"/>
              </a:rPr>
              <a:t> — This weight is the only knob in the shipped no-config path that trades prefix affinity against load-pressure signals.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1080" y="4783500"/>
            <a:ext cx="8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1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170</Words>
  <Application>Microsoft Macintosh PowerPoint</Application>
  <PresentationFormat>On-screen Show (16:9)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OPHIR AZULAI</cp:lastModifiedBy>
  <cp:revision>4</cp:revision>
  <dcterms:created xsi:type="dcterms:W3CDTF">2013-01-27T09:14:16Z</dcterms:created>
  <dcterms:modified xsi:type="dcterms:W3CDTF">2026-06-08T14:53:54Z</dcterms:modified>
  <cp:category/>
</cp:coreProperties>
</file>