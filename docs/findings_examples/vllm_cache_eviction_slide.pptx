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196" y="184475"/>
            <a:ext cx="902080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1A1A2A"/>
                </a:solidFill>
                <a:latin typeface="Calibri"/>
              </a:rPr>
              <a:t>Candidate: </a:t>
            </a:r>
            <a:r>
              <a:rPr sz="2000" b="1" i="0" dirty="0">
                <a:solidFill>
                  <a:srgbClr val="1A1A2A"/>
                </a:solidFill>
                <a:latin typeface="Consolas"/>
              </a:rPr>
              <a:t>_CACHE_POLICIES</a:t>
            </a:r>
            <a:r>
              <a:rPr sz="2000" b="1" i="0" dirty="0">
                <a:solidFill>
                  <a:srgbClr val="1A1A2A"/>
                </a:solidFill>
                <a:latin typeface="Calibri"/>
              </a:rPr>
              <a:t> </a:t>
            </a:r>
            <a:r>
              <a:rPr lang="en-US" sz="2000" b="1" dirty="0">
                <a:solidFill>
                  <a:srgbClr val="1A1A2A"/>
                </a:solidFill>
                <a:latin typeface="Calibri"/>
              </a:rPr>
              <a:t>,</a:t>
            </a:r>
            <a:r>
              <a:rPr sz="2000" b="1" i="0" dirty="0">
                <a:solidFill>
                  <a:srgbClr val="1A1A2A"/>
                </a:solidFill>
                <a:latin typeface="Calibri"/>
              </a:rPr>
              <a:t> Finding: Add S3-FIFO as new CPU offloading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4592"/>
            <a:ext cx="8138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820000"/>
            <a:ext cx="2550000" cy="270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2920" y="960000"/>
            <a:ext cx="2190000" cy="2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1">
                <a:solidFill>
                  <a:srgbClr val="0F7173"/>
                </a:solidFill>
                <a:latin typeface="Calibri"/>
              </a:rPr>
              <a:t>Seam metadata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File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Consolas"/>
              </a:rPr>
              <a:t>vllm/v1/kv_offload/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Consolas"/>
              </a:rPr>
              <a:t>cpu/manager.py</a:t>
            </a:r>
          </a:p>
          <a:p>
            <a:pPr>
              <a:spcAft>
                <a:spcPts val="800"/>
              </a:spcAft>
            </a:pPr>
            <a:r>
              <a:rPr sz="1000" b="0" i="1">
                <a:solidFill>
                  <a:srgbClr val="94A3B8"/>
                </a:solidFill>
                <a:latin typeface="Calibri"/>
              </a:rPr>
              <a:t>lines 19–22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Symbol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</a:rPr>
              <a:t>_CACHE_POLICIES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Kind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plugin_seam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94A3B8"/>
                </a:solidFill>
                <a:latin typeface="Calibri"/>
              </a:rPr>
              <a:t>Estimated impact</a:t>
            </a:r>
          </a:p>
          <a:p>
            <a:r>
              <a:rPr sz="1200" b="1" i="0">
                <a:solidFill>
                  <a:srgbClr val="0F7173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2920" y="911893"/>
            <a:ext cx="5188160" cy="2033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 dirty="0">
                <a:solidFill>
                  <a:srgbClr val="1A1A2A"/>
                </a:solidFill>
                <a:latin typeface="Calibri"/>
              </a:rPr>
              <a:t>S3-FIFO in one minute</a:t>
            </a:r>
          </a:p>
          <a:p>
            <a:pPr>
              <a:spcAft>
                <a:spcPts val="800"/>
              </a:spcAft>
            </a:pPr>
            <a:r>
              <a:rPr sz="1000" b="0" i="1" dirty="0">
                <a:solidFill>
                  <a:srgbClr val="94A3B8"/>
                </a:solidFill>
                <a:latin typeface="Calibri"/>
              </a:rPr>
              <a:t>Yang et al., "FIFO Queues are All You Need for Cache Eviction", SOSP '23.</a:t>
            </a:r>
          </a:p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1A1A2A"/>
                </a:solidFill>
                <a:latin typeface="Calibri"/>
              </a:rPr>
              <a:t>Design: 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three static FIFO queues, no LRU promotion, no per-hit lock.</a:t>
            </a:r>
          </a:p>
          <a:p>
            <a:pPr>
              <a:spcAft>
                <a:spcPts val="300"/>
              </a:spcAft>
            </a:pPr>
            <a:r>
              <a:rPr sz="12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200" b="1" i="0" dirty="0">
                <a:solidFill>
                  <a:srgbClr val="1A1A2A"/>
                </a:solidFill>
                <a:latin typeface="Calibri"/>
              </a:rPr>
              <a:t>Small (S, ~10%)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probationary; new objects land here.</a:t>
            </a:r>
          </a:p>
          <a:p>
            <a:pPr>
              <a:spcAft>
                <a:spcPts val="300"/>
              </a:spcAft>
            </a:pPr>
            <a:r>
              <a:rPr sz="12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200" b="1" i="0" dirty="0">
                <a:solidFill>
                  <a:srgbClr val="1A1A2A"/>
                </a:solidFill>
                <a:latin typeface="Calibri"/>
              </a:rPr>
              <a:t>Main (M, ~90%)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durable hot set; FIFO with second-chance reinsertion driven by a 2-bit frequency counter.</a:t>
            </a:r>
          </a:p>
          <a:p>
            <a:pPr>
              <a:spcAft>
                <a:spcPts val="300"/>
              </a:spcAft>
            </a:pPr>
            <a:r>
              <a:rPr sz="12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200" b="1" i="0" dirty="0">
                <a:solidFill>
                  <a:srgbClr val="1A1A2A"/>
                </a:solidFill>
                <a:latin typeface="Calibri"/>
              </a:rPr>
              <a:t>Ghost (G)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475569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hashes only; a re-requested ghost skips probation and goes straight to M (scan resistance).</a:t>
            </a:r>
          </a:p>
          <a:p>
            <a:pPr>
              <a:spcBef>
                <a:spcPts val="600"/>
              </a:spcBef>
            </a:pPr>
            <a:r>
              <a:rPr sz="1200" b="1" i="0" dirty="0">
                <a:solidFill>
                  <a:srgbClr val="1A1A2A"/>
                </a:solidFill>
                <a:latin typeface="Calibri"/>
              </a:rPr>
              <a:t>Results: 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lowest mean miss ratio on 10 of 14 datasets.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80000"/>
            <a:ext cx="40000" cy="820000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920" y="3680000"/>
            <a:ext cx="7938160" cy="8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A1A2A"/>
                </a:solidFill>
                <a:latin typeface="Calibri"/>
              </a:rPr>
              <a:t>Already on vLLM's radar</a:t>
            </a:r>
          </a:p>
          <a:p>
            <a:r>
              <a:rPr sz="1200" b="1" i="0">
                <a:solidFill>
                  <a:srgbClr val="0F7173"/>
                </a:solidFill>
                <a:latin typeface="Calibri"/>
              </a:rPr>
              <a:t>RFC #14724 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(KV Cache Offloading for Cross-Engine KV Reuse) explicitly lists </a:t>
            </a:r>
            <a:r>
              <a:rPr sz="1200" b="1" i="0">
                <a:solidFill>
                  <a:srgbClr val="1A1A2A"/>
                </a:solidFill>
                <a:latin typeface="Calibri"/>
              </a:rPr>
              <a:t>LRU, FIFO, and S3FIFO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 as built-in eviction options, calling out S3FIFO as the scan-resistant choice that improves memory efficiency and reduces bandwidth contention.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1080" y="478350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</Words>
  <Application>Microsoft Macintosh PowerPoint</Application>
  <PresentationFormat>On-screen Show (16:9)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OPHIR AZULAI</cp:lastModifiedBy>
  <cp:revision>2</cp:revision>
  <dcterms:created xsi:type="dcterms:W3CDTF">2026-05-31T14:50:30Z</dcterms:created>
  <dcterms:modified xsi:type="dcterms:W3CDTF">2026-05-31T15:53:30Z</dcterms:modified>
</cp:coreProperties>
</file>