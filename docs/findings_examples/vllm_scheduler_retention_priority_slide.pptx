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 dirty="0">
                <a:solidFill>
                  <a:srgbClr val="1A1A2A"/>
                </a:solidFill>
                <a:latin typeface="Calibri"/>
              </a:rPr>
              <a:t>Candidate: </a:t>
            </a:r>
            <a:r>
              <a:rPr sz="1800" b="1" i="0" dirty="0" err="1">
                <a:solidFill>
                  <a:srgbClr val="1A1A2A"/>
                </a:solidFill>
                <a:latin typeface="Consolas"/>
              </a:rPr>
              <a:t>Scheduler.schedule</a:t>
            </a:r>
            <a:r>
              <a:rPr sz="1800" b="1" i="0" dirty="0">
                <a:solidFill>
                  <a:srgbClr val="1A1A2A"/>
                </a:solidFill>
                <a:latin typeface="Consolas"/>
              </a:rPr>
              <a:t> (RUNNING-phase loop)</a:t>
            </a:r>
            <a:r>
              <a:rPr sz="1800" b="1" i="0" dirty="0">
                <a:solidFill>
                  <a:srgbClr val="1A1A2A"/>
                </a:solidFill>
                <a:latin typeface="Calibri"/>
              </a:rPr>
              <a:t> </a:t>
            </a:r>
            <a:br>
              <a:rPr lang="en-US" sz="1800" b="1" i="0" dirty="0">
                <a:solidFill>
                  <a:srgbClr val="1A1A2A"/>
                </a:solidFill>
                <a:latin typeface="Calibri"/>
              </a:rPr>
            </a:br>
            <a:r>
              <a:rPr sz="1800" b="1" i="0" dirty="0">
                <a:solidFill>
                  <a:srgbClr val="1A1A2A"/>
                </a:solidFill>
                <a:latin typeface="Calibri"/>
              </a:rPr>
              <a:t>Finding: Retention-Priority-Aware Victim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4592"/>
            <a:ext cx="8138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820000"/>
            <a:ext cx="2550000" cy="270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2920" y="960000"/>
            <a:ext cx="2190000" cy="2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1" dirty="0">
                <a:solidFill>
                  <a:srgbClr val="0F7173"/>
                </a:solidFill>
                <a:latin typeface="Calibri"/>
              </a:rPr>
              <a:t>Seam metadata</a:t>
            </a: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File</a:t>
            </a:r>
          </a:p>
          <a:p>
            <a:pPr>
              <a:spcAft>
                <a:spcPts val="2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vllm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/v1/core/sched/</a:t>
            </a:r>
          </a:p>
          <a:p>
            <a:pPr>
              <a:spcAft>
                <a:spcPts val="2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scheduler.py</a:t>
            </a:r>
            <a:endParaRPr sz="1100" b="0" i="0" dirty="0">
              <a:solidFill>
                <a:srgbClr val="475569"/>
              </a:solidFill>
              <a:latin typeface="Consolas"/>
            </a:endParaRPr>
          </a:p>
          <a:p>
            <a:pPr>
              <a:spcAft>
                <a:spcPts val="800"/>
              </a:spcAft>
            </a:pPr>
            <a:r>
              <a:rPr sz="1000" b="0" i="1" dirty="0">
                <a:solidFill>
                  <a:srgbClr val="94A3B8"/>
                </a:solidFill>
                <a:latin typeface="Calibri"/>
              </a:rPr>
              <a:t>lines 388–556</a:t>
            </a: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Symbol</a:t>
            </a:r>
          </a:p>
          <a:p>
            <a:pPr>
              <a:spcAft>
                <a:spcPts val="2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Scheduler.schedule</a:t>
            </a:r>
            <a:endParaRPr sz="1100" b="0" i="0" dirty="0">
              <a:solidFill>
                <a:srgbClr val="475569"/>
              </a:solidFill>
              <a:latin typeface="Consolas"/>
            </a:endParaRPr>
          </a:p>
          <a:p>
            <a:pPr>
              <a:spcAft>
                <a:spcPts val="800"/>
              </a:spcAft>
            </a:pPr>
            <a:r>
              <a:rPr sz="1000" b="0" i="1" dirty="0">
                <a:solidFill>
                  <a:srgbClr val="94A3B8"/>
                </a:solidFill>
                <a:latin typeface="Calibri"/>
              </a:rPr>
              <a:t>(RUNNING-phase loop)</a:t>
            </a: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Kind</a:t>
            </a:r>
          </a:p>
          <a:p>
            <a:pPr>
              <a:spcAft>
                <a:spcPts val="800"/>
              </a:spcAft>
            </a:pPr>
            <a:r>
              <a:rPr sz="1200" b="0" i="0" dirty="0">
                <a:solidFill>
                  <a:srgbClr val="475569"/>
                </a:solidFill>
                <a:latin typeface="Calibri"/>
              </a:rPr>
              <a:t>loop</a:t>
            </a: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Estimated impact</a:t>
            </a:r>
          </a:p>
          <a:p>
            <a:r>
              <a:rPr sz="1200" b="1" i="0" dirty="0">
                <a:solidFill>
                  <a:srgbClr val="0F7173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2920" y="820000"/>
            <a:ext cx="5368160" cy="1554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 dirty="0">
                <a:solidFill>
                  <a:srgbClr val="1A1A2A"/>
                </a:solidFill>
                <a:latin typeface="Calibri"/>
              </a:rPr>
              <a:t>Background</a:t>
            </a:r>
          </a:p>
          <a:p>
            <a:pPr>
              <a:spcAft>
                <a:spcPts val="400"/>
              </a:spcAft>
            </a:pPr>
            <a:r>
              <a:rPr sz="12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On allocation failure during the RUNNING-phase decode loop, </a:t>
            </a:r>
            <a:r>
              <a:rPr sz="1200" b="0" i="0" dirty="0" err="1">
                <a:solidFill>
                  <a:srgbClr val="475569"/>
                </a:solidFill>
                <a:latin typeface="Consolas"/>
              </a:rPr>
              <a:t>Scheduler.schedule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preempts a victim request and retries.</a:t>
            </a:r>
          </a:p>
          <a:p>
            <a:pPr>
              <a:spcAft>
                <a:spcPts val="400"/>
              </a:spcAft>
            </a:pPr>
            <a:r>
              <a:rPr sz="1200" b="1" i="0" dirty="0">
                <a:solidFill>
                  <a:srgbClr val="0F7173"/>
                </a:solidFill>
                <a:latin typeface="Calibri"/>
              </a:rPr>
              <a:t>• </a:t>
            </a:r>
            <a:r>
              <a:rPr sz="1200" b="1" i="0" dirty="0">
                <a:solidFill>
                  <a:srgbClr val="1A1A2A"/>
                </a:solidFill>
                <a:latin typeface="Calibri"/>
              </a:rPr>
              <a:t>FCFS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pops the tail of </a:t>
            </a:r>
            <a:r>
              <a:rPr sz="1200" b="0" i="0" dirty="0" err="1">
                <a:solidFill>
                  <a:srgbClr val="475569"/>
                </a:solidFill>
                <a:latin typeface="Consolas"/>
              </a:rPr>
              <a:t>self.running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; </a:t>
            </a:r>
            <a:endParaRPr lang="en-US" sz="1200" b="0" i="0" dirty="0">
              <a:solidFill>
                <a:srgbClr val="47556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IL" sz="1200" b="1" dirty="0">
                <a:solidFill>
                  <a:srgbClr val="0F7173"/>
                </a:solidFill>
              </a:rPr>
              <a:t>• </a:t>
            </a:r>
            <a:r>
              <a:rPr sz="1200" b="1" i="0" dirty="0">
                <a:solidFill>
                  <a:srgbClr val="1A1A2A"/>
                </a:solidFill>
                <a:latin typeface="Calibri"/>
              </a:rPr>
              <a:t>PRIORITY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evicts the max </a:t>
            </a:r>
            <a:r>
              <a:rPr sz="1200" b="0" i="0" dirty="0">
                <a:solidFill>
                  <a:srgbClr val="475569"/>
                </a:solidFill>
                <a:latin typeface="Consolas"/>
              </a:rPr>
              <a:t>(priority, </a:t>
            </a:r>
            <a:r>
              <a:rPr sz="1200" b="0" i="0" dirty="0" err="1">
                <a:solidFill>
                  <a:srgbClr val="475569"/>
                </a:solidFill>
                <a:latin typeface="Consolas"/>
              </a:rPr>
              <a:t>arrival_time</a:t>
            </a:r>
            <a:r>
              <a:rPr sz="1200" b="0" i="0" dirty="0">
                <a:solidFill>
                  <a:srgbClr val="475569"/>
                </a:solidFill>
                <a:latin typeface="Consolas"/>
              </a:rPr>
              <a:t>)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.</a:t>
            </a:r>
          </a:p>
          <a:p>
            <a:pPr>
              <a:spcAft>
                <a:spcPts val="200"/>
              </a:spcAft>
            </a:pPr>
            <a:r>
              <a:rPr sz="1200" b="1" i="0" dirty="0">
                <a:solidFill>
                  <a:srgbClr val="0F7173"/>
                </a:solidFill>
                <a:latin typeface="Calibri"/>
              </a:rPr>
              <a:t>• </a:t>
            </a:r>
            <a:r>
              <a:rPr lang="en-US" sz="1200" dirty="0"/>
              <a:t>Both rules ignore recompute cost, so preempting a long shared prefix forces a costly recompute that inflates TTFT on resume.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80000"/>
            <a:ext cx="40000" cy="118000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920" y="3680000"/>
            <a:ext cx="7938160" cy="1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1A1A2A"/>
                </a:solidFill>
                <a:latin typeface="Calibri"/>
              </a:rPr>
              <a:t>The proposal</a:t>
            </a:r>
          </a:p>
          <a:p>
            <a:pPr>
              <a:spcAft>
                <a:spcPts val="3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Add an optional, neutral-by-default </a:t>
            </a:r>
            <a:r>
              <a:rPr sz="1100" b="0" i="0" dirty="0" err="1">
                <a:solidFill>
                  <a:srgbClr val="475569"/>
                </a:solidFill>
                <a:latin typeface="Consolas"/>
              </a:rPr>
              <a:t>RetentionHint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(score, protected blocks, TTL, source) to 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Request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FCFS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pops the lowest-retention entry in a bounded tail window;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PRIORITY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inserts 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-</a:t>
            </a:r>
            <a:r>
              <a:rPr sz="1100" b="0" i="0" dirty="0" err="1">
                <a:solidFill>
                  <a:srgbClr val="475569"/>
                </a:solidFill>
                <a:latin typeface="Consolas"/>
              </a:rPr>
              <a:t>retention_score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as a tiebreaker; </a:t>
            </a:r>
            <a:r>
              <a:rPr sz="1100" b="0" i="0" dirty="0" err="1">
                <a:solidFill>
                  <a:srgbClr val="475569"/>
                </a:solidFill>
                <a:latin typeface="Consolas"/>
              </a:rPr>
              <a:t>BlockPool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eviction follows the same hint</a:t>
            </a:r>
            <a:r>
              <a:rPr lang="en-IL" sz="1100" b="0" i="0" dirty="0">
                <a:solidFill>
                  <a:srgbClr val="475569"/>
                </a:solidFill>
                <a:latin typeface="Calibri"/>
              </a:rPr>
              <a:t>—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neutral hints reproduce today's behavior.</a:t>
            </a:r>
          </a:p>
          <a:p>
            <a:pPr>
              <a:spcAft>
                <a:spcPts val="3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Protects long/shared/reused prefixes (agents, tool sessions, media), lifting </a:t>
            </a:r>
            <a:r>
              <a:rPr sz="1100" b="1" i="0" dirty="0" err="1">
                <a:solidFill>
                  <a:srgbClr val="1A1A2A"/>
                </a:solidFill>
                <a:latin typeface="Calibri"/>
              </a:rPr>
              <a:t>TensorRT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-LLM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's block-level retention idea to request-level victim selection</a:t>
            </a:r>
            <a:r>
              <a:rPr sz="1100" dirty="0">
                <a:solidFill>
                  <a:srgbClr val="475569"/>
                </a:solidFill>
                <a:latin typeface="Calibri"/>
              </a:rPr>
              <a:t>.</a:t>
            </a:r>
          </a:p>
          <a:p>
            <a:pPr>
              <a:spcBef>
                <a:spcPts val="400"/>
              </a:spcBef>
            </a:pPr>
            <a:r>
              <a:rPr sz="1000" b="1" i="1" dirty="0">
                <a:solidFill>
                  <a:srgbClr val="94A3B8"/>
                </a:solidFill>
                <a:latin typeface="Calibri"/>
              </a:rPr>
              <a:t>Reference: </a:t>
            </a:r>
            <a:r>
              <a:rPr sz="1000" b="0" i="1" dirty="0" err="1">
                <a:solidFill>
                  <a:srgbClr val="94A3B8"/>
                </a:solidFill>
                <a:latin typeface="Calibri"/>
              </a:rPr>
              <a:t>developer.nvidia.com</a:t>
            </a:r>
            <a:r>
              <a:rPr sz="1000" b="0" i="1" dirty="0">
                <a:solidFill>
                  <a:srgbClr val="94A3B8"/>
                </a:solidFill>
                <a:latin typeface="Calibri"/>
              </a:rPr>
              <a:t>/blog/introducing-new-kv-cache-reuse-optimizations-in-nvidia-tensorrt-llm/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1080" y="478350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207</Words>
  <Application>Microsoft Macintosh PowerPoint</Application>
  <PresentationFormat>On-screen Show (16:9)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OPHIR AZULAI</cp:lastModifiedBy>
  <cp:revision>3</cp:revision>
  <dcterms:created xsi:type="dcterms:W3CDTF">2026-05-31T14:50:30Z</dcterms:created>
  <dcterms:modified xsi:type="dcterms:W3CDTF">2026-05-31T17:22:11Z</dcterms:modified>
</cp:coreProperties>
</file>